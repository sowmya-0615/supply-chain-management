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  <p:sldId id="269" r:id="rId10"/>
    <p:sldId id="270" r:id="rId11"/>
    <p:sldId id="271" r:id="rId12"/>
    <p:sldId id="266" r:id="rId13"/>
    <p:sldId id="267" r:id="rId14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27-4ED0-BA47-EAD6F3374FB8}"/>
              </c:ext>
            </c:extLst>
          </c:dPt>
          <c:dPt>
            <c:idx val="1"/>
            <c:bubble3D val="0"/>
            <c:spPr>
              <a:solidFill>
                <a:srgbClr val="F582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27-4ED0-BA47-EAD6F3374FB8}"/>
              </c:ext>
            </c:extLst>
          </c:dPt>
          <c:dPt>
            <c:idx val="2"/>
            <c:bubble3D val="0"/>
            <c:spPr>
              <a:solidFill>
                <a:srgbClr val="4E8F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27-4ED0-BA47-EAD6F3374FB8}"/>
              </c:ext>
            </c:extLst>
          </c:dPt>
          <c:dPt>
            <c:idx val="3"/>
            <c:bubble3D val="0"/>
            <c:spPr>
              <a:solidFill>
                <a:srgbClr val="9AC5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727-4ED0-BA47-EAD6F3374FB8}"/>
              </c:ext>
            </c:extLst>
          </c:dPt>
          <c:dPt>
            <c:idx val="4"/>
            <c:bubble3D val="0"/>
            <c:spPr>
              <a:solidFill>
                <a:srgbClr val="F5B2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727-4ED0-BA47-EAD6F3374FB8}"/>
              </c:ext>
            </c:extLst>
          </c:dPt>
          <c:dLbls>
            <c:dLbl>
              <c:idx val="0"/>
              <c:numFmt formatCode="0.00,&quot;K&quot;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27-4ED0-BA47-EAD6F3374FB8}"/>
                </c:ext>
              </c:extLst>
            </c:dLbl>
            <c:dLbl>
              <c:idx val="1"/>
              <c:numFmt formatCode="0.00,&quot;K&quot;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27-4ED0-BA47-EAD6F3374FB8}"/>
                </c:ext>
              </c:extLst>
            </c:dLbl>
            <c:dLbl>
              <c:idx val="2"/>
              <c:numFmt formatCode="0.00,&quot;K&quot;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727-4ED0-BA47-EAD6F3374FB8}"/>
                </c:ext>
              </c:extLst>
            </c:dLbl>
            <c:dLbl>
              <c:idx val="3"/>
              <c:numFmt formatCode="0.00,&quot;K&quot;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727-4ED0-BA47-EAD6F3374FB8}"/>
                </c:ext>
              </c:extLst>
            </c:dLbl>
            <c:dLbl>
              <c:idx val="4"/>
              <c:numFmt formatCode="0.00,&quot;K&quot;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727-4ED0-BA47-EAD6F3374FB8}"/>
                </c:ext>
              </c:extLst>
            </c:dLbl>
            <c:numFmt formatCode="0.0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Road</c:v>
                </c:pt>
                <c:pt idx="1">
                  <c:v>Air</c:v>
                </c:pt>
                <c:pt idx="2">
                  <c:v>Rail</c:v>
                </c:pt>
                <c:pt idx="3">
                  <c:v>Same-day</c:v>
                </c:pt>
                <c:pt idx="4">
                  <c:v>Sea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4643</c:v>
                </c:pt>
                <c:pt idx="1">
                  <c:v>3604</c:v>
                </c:pt>
                <c:pt idx="2">
                  <c:v>1965</c:v>
                </c:pt>
                <c:pt idx="3">
                  <c:v>1000</c:v>
                </c:pt>
                <c:pt idx="4">
                  <c:v>788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727-4ED0-BA47-EAD6F3374F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solidFill>
                <a:srgbClr val="23324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B3D66"/>
            </a:solidFill>
            <a:effectLst/>
          </c:spPr>
          <c:invertIfNegative val="0"/>
          <c:dLbls>
            <c:numFmt formatCode="#,##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328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Home &amp; Kitchen</c:v>
                </c:pt>
                <c:pt idx="2">
                  <c:v>Apparel</c:v>
                </c:pt>
                <c:pt idx="3">
                  <c:v>Healthcare</c:v>
                </c:pt>
                <c:pt idx="4">
                  <c:v>Food &amp; Beverage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152.66</c:v>
                </c:pt>
                <c:pt idx="1">
                  <c:v>26.9</c:v>
                </c:pt>
                <c:pt idx="2">
                  <c:v>10.46</c:v>
                </c:pt>
                <c:pt idx="3">
                  <c:v>2.2799999999999998</c:v>
                </c:pt>
                <c:pt idx="4">
                  <c:v>1.69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99-4FE4-AB4F-38BC172728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Accuracy %</c:v>
                </c:pt>
              </c:strCache>
            </c:strRef>
          </c:tx>
          <c:spPr>
            <a:ln w="31750" cap="flat">
              <a:solidFill>
                <a:srgbClr val="F5821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5821F"/>
              </a:solidFill>
              <a:ln w="9525" cap="flat">
                <a:solidFill>
                  <a:srgbClr val="F5821F"/>
                </a:solidFill>
                <a:prstDash val="solid"/>
                <a:round/>
              </a:ln>
              <a:effectLst/>
            </c:spPr>
          </c:marker>
          <c:dLbls>
            <c:numFmt formatCode="#,##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97.1</c:v>
                </c:pt>
                <c:pt idx="1">
                  <c:v>97.6</c:v>
                </c:pt>
                <c:pt idx="2">
                  <c:v>96.3</c:v>
                </c:pt>
                <c:pt idx="3">
                  <c:v>96.1</c:v>
                </c:pt>
                <c:pt idx="4">
                  <c:v>97.3</c:v>
                </c:pt>
                <c:pt idx="5">
                  <c:v>97.4</c:v>
                </c:pt>
                <c:pt idx="6">
                  <c:v>96.2</c:v>
                </c:pt>
                <c:pt idx="7">
                  <c:v>97.1</c:v>
                </c:pt>
                <c:pt idx="8">
                  <c:v>96.4</c:v>
                </c:pt>
                <c:pt idx="9">
                  <c:v>97.1</c:v>
                </c:pt>
                <c:pt idx="10">
                  <c:v>97.3</c:v>
                </c:pt>
                <c:pt idx="11">
                  <c:v>96.6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0D-4243-8301-524342414B4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002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Delay (days)</c:v>
                </c:pt>
              </c:strCache>
            </c:strRef>
          </c:tx>
          <c:spPr>
            <a:solidFill>
              <a:srgbClr val="0B3D66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0206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1.47</c:v>
                </c:pt>
                <c:pt idx="1">
                  <c:v>1.44</c:v>
                </c:pt>
                <c:pt idx="2">
                  <c:v>1.3</c:v>
                </c:pt>
                <c:pt idx="3">
                  <c:v>1.51</c:v>
                </c:pt>
                <c:pt idx="4">
                  <c:v>1.47</c:v>
                </c:pt>
                <c:pt idx="5">
                  <c:v>1.28</c:v>
                </c:pt>
                <c:pt idx="6">
                  <c:v>1.51</c:v>
                </c:pt>
                <c:pt idx="7">
                  <c:v>1.68</c:v>
                </c:pt>
                <c:pt idx="8">
                  <c:v>1.47</c:v>
                </c:pt>
                <c:pt idx="9">
                  <c:v>1.45</c:v>
                </c:pt>
                <c:pt idx="10">
                  <c:v>1.5</c:v>
                </c:pt>
                <c:pt idx="11">
                  <c:v>1.38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47-4043-A1E3-6A0DF066D9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002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1047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52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43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79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8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07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49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/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68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MANAGEMENT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822960" y="12344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Dashboard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&amp; Performance Analysis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788920"/>
            <a:ext cx="502920" cy="36576"/>
          </a:xfrm>
          <a:prstGeom prst="rect">
            <a:avLst/>
          </a:prstGeom>
          <a:solidFill>
            <a:srgbClr val="F5821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926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from 12,000 order records across 20 warehouses and 5 global regions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Group 4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3886200"/>
            <a:ext cx="3364992" cy="603504"/>
          </a:xfrm>
          <a:prstGeom prst="roundRect">
            <a:avLst>
              <a:gd name="adj" fmla="val 1212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1832" y="3977640"/>
            <a:ext cx="420624" cy="420624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10" name="Image 1" descr="icons/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05993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4752" y="388620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Omkar Chaudhari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416552" y="3886200"/>
            <a:ext cx="3364992" cy="603504"/>
          </a:xfrm>
          <a:prstGeom prst="roundRect">
            <a:avLst>
              <a:gd name="adj" fmla="val 1212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35424" y="3977640"/>
            <a:ext cx="420624" cy="420624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14" name="Image 2" descr="icons/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05993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38344" y="388620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Dhairya Yadav</a:t>
            </a:r>
          </a:p>
        </p:txBody>
      </p:sp>
      <p:sp>
        <p:nvSpPr>
          <p:cNvPr id="16" name="Shape 11"/>
          <p:cNvSpPr/>
          <p:nvPr/>
        </p:nvSpPr>
        <p:spPr>
          <a:xfrm>
            <a:off x="8010144" y="3886200"/>
            <a:ext cx="3364992" cy="603504"/>
          </a:xfrm>
          <a:prstGeom prst="roundRect">
            <a:avLst>
              <a:gd name="adj" fmla="val 1212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29016" y="3977640"/>
            <a:ext cx="420624" cy="420624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18" name="Image 3" descr="icons/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405993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31936" y="388620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Uma Rathod</a:t>
            </a:r>
          </a:p>
        </p:txBody>
      </p:sp>
      <p:sp>
        <p:nvSpPr>
          <p:cNvPr id="20" name="Shape 14"/>
          <p:cNvSpPr/>
          <p:nvPr/>
        </p:nvSpPr>
        <p:spPr>
          <a:xfrm>
            <a:off x="822960" y="4654296"/>
            <a:ext cx="3364992" cy="603504"/>
          </a:xfrm>
          <a:prstGeom prst="roundRect">
            <a:avLst>
              <a:gd name="adj" fmla="val 1212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41832" y="4745736"/>
            <a:ext cx="420624" cy="420624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22" name="Image 4" descr="icons/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828032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44752" y="4654296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Mrudula Mahadik</a:t>
            </a:r>
          </a:p>
        </p:txBody>
      </p:sp>
      <p:sp>
        <p:nvSpPr>
          <p:cNvPr id="24" name="Shape 17"/>
          <p:cNvSpPr/>
          <p:nvPr/>
        </p:nvSpPr>
        <p:spPr>
          <a:xfrm>
            <a:off x="4416552" y="4654296"/>
            <a:ext cx="3364992" cy="603504"/>
          </a:xfrm>
          <a:prstGeom prst="roundRect">
            <a:avLst>
              <a:gd name="adj" fmla="val 1212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35424" y="4745736"/>
            <a:ext cx="420624" cy="420624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26" name="Image 5" descr="icons/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828032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038344" y="4654296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Meghana H.N.</a:t>
            </a:r>
          </a:p>
        </p:txBody>
      </p:sp>
      <p:sp>
        <p:nvSpPr>
          <p:cNvPr id="28" name="Shape 20"/>
          <p:cNvSpPr/>
          <p:nvPr/>
        </p:nvSpPr>
        <p:spPr>
          <a:xfrm>
            <a:off x="8010144" y="4654296"/>
            <a:ext cx="3364992" cy="603504"/>
          </a:xfrm>
          <a:prstGeom prst="roundRect">
            <a:avLst>
              <a:gd name="adj" fmla="val 1212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129016" y="4745736"/>
            <a:ext cx="420624" cy="420624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30" name="Image 6" descr="icons/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4828032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631936" y="4654296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Sowmya 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B3D66"/>
          </a:solidFill>
          <a:ln/>
        </p:spPr>
      </p:sp>
      <p:pic>
        <p:nvPicPr>
          <p:cNvPr id="3" name="Image 0" descr="bg/title_bg.png"/>
          <p:cNvPicPr>
            <a:picLocks noChangeAspect="1"/>
          </p:cNvPicPr>
          <p:nvPr/>
        </p:nvPicPr>
        <p:blipFill>
          <a:blip r:embed="rId3"/>
          <a:srcRect r="63333" b="34783"/>
          <a:stretch/>
        </p:blipFill>
        <p:spPr>
          <a:xfrm>
            <a:off x="-3657600" y="-1828800"/>
            <a:ext cx="402336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B3D66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32004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Today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4663440"/>
            <a:ext cx="457200" cy="36576"/>
          </a:xfrm>
          <a:prstGeom prst="rect">
            <a:avLst/>
          </a:prstGeom>
          <a:solidFill>
            <a:srgbClr val="F5821F"/>
          </a:solidFill>
          <a:ln/>
        </p:spPr>
      </p:sp>
      <p:sp>
        <p:nvSpPr>
          <p:cNvPr id="8" name="Shape 5"/>
          <p:cNvSpPr/>
          <p:nvPr/>
        </p:nvSpPr>
        <p:spPr>
          <a:xfrm>
            <a:off x="4434840" y="777240"/>
            <a:ext cx="457200" cy="457200"/>
          </a:xfrm>
          <a:prstGeom prst="ellipse">
            <a:avLst/>
          </a:prstGeom>
          <a:solidFill>
            <a:srgbClr val="FDE6D2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34840" y="777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56632" y="722376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434840" y="1435608"/>
            <a:ext cx="6949440" cy="0"/>
          </a:xfrm>
          <a:prstGeom prst="line">
            <a:avLst/>
          </a:prstGeom>
          <a:noFill/>
          <a:ln w="12700">
            <a:solidFill>
              <a:srgbClr val="DDE6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618488"/>
            <a:ext cx="457200" cy="457200"/>
          </a:xfrm>
          <a:prstGeom prst="ellipse">
            <a:avLst/>
          </a:prstGeom>
          <a:solidFill>
            <a:srgbClr val="FDE6D2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3484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56632" y="1563624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 — Sales &amp; Profitability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434840" y="2276856"/>
            <a:ext cx="6949440" cy="0"/>
          </a:xfrm>
          <a:prstGeom prst="line">
            <a:avLst/>
          </a:prstGeom>
          <a:noFill/>
          <a:ln w="12700">
            <a:solidFill>
              <a:srgbClr val="DDE6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2459736"/>
            <a:ext cx="457200" cy="457200"/>
          </a:xfrm>
          <a:prstGeom prst="ellipse">
            <a:avLst/>
          </a:prstGeom>
          <a:solidFill>
            <a:srgbClr val="FDE6D2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34840" y="2459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56632" y="240487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 — Delivery &amp; Fulfillment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4434840" y="3118104"/>
            <a:ext cx="6949440" cy="0"/>
          </a:xfrm>
          <a:prstGeom prst="line">
            <a:avLst/>
          </a:prstGeom>
          <a:noFill/>
          <a:ln w="12700">
            <a:solidFill>
              <a:srgbClr val="DDE6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34840" y="3300984"/>
            <a:ext cx="457200" cy="457200"/>
          </a:xfrm>
          <a:prstGeom prst="ellipse">
            <a:avLst/>
          </a:prstGeom>
          <a:solidFill>
            <a:srgbClr val="FDE6D2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3484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56632" y="324612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Ship Mode &amp; Top Categories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434840" y="3959352"/>
            <a:ext cx="6949440" cy="0"/>
          </a:xfrm>
          <a:prstGeom prst="line">
            <a:avLst/>
          </a:prstGeom>
          <a:noFill/>
          <a:ln w="12700">
            <a:solidFill>
              <a:srgbClr val="DDE6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34840" y="4142232"/>
            <a:ext cx="457200" cy="457200"/>
          </a:xfrm>
          <a:prstGeom prst="ellipse">
            <a:avLst/>
          </a:prstGeom>
          <a:solidFill>
            <a:srgbClr val="FDE6D2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3484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34840" y="4800600"/>
            <a:ext cx="6949440" cy="0"/>
          </a:xfrm>
          <a:prstGeom prst="line">
            <a:avLst/>
          </a:prstGeom>
          <a:noFill/>
          <a:ln w="12700">
            <a:solidFill>
              <a:srgbClr val="DDE6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983480"/>
            <a:ext cx="457200" cy="457200"/>
          </a:xfrm>
          <a:prstGeom prst="ellipse">
            <a:avLst/>
          </a:prstGeom>
          <a:solidFill>
            <a:srgbClr val="FDE6D2"/>
          </a:solidFill>
          <a:ln w="12700">
            <a:solidFill>
              <a:srgbClr val="F5821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348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056632" y="4033748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&amp; Delay Trends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4434840" y="5641848"/>
            <a:ext cx="6949440" cy="0"/>
          </a:xfrm>
          <a:prstGeom prst="line">
            <a:avLst/>
          </a:prstGeom>
          <a:noFill/>
          <a:ln w="12700">
            <a:solidFill>
              <a:srgbClr val="DDE6E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56632" y="4898565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Recommendations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6692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overview of the project's objectives and business impact.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0B3D66"/>
          </a:solidFill>
          <a:ln/>
        </p:spPr>
      </p:sp>
      <p:pic>
        <p:nvPicPr>
          <p:cNvPr id="7" name="Image 0" descr="icon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8105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66420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198424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end-to-end supply chain performance — sales, delivery, fulfillment, and demand planning — using 12,000 order records to surface actionable insights.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11" name="Image 1" descr="icons/netwo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9535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80720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097280" y="312724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order and revenue trends, on-time delivery, backorders, forecast accuracy, and lead times across 20 warehouses, 5 regions, and 5 product categories.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0B3D66"/>
          </a:solidFill>
          <a:ln/>
        </p:spPr>
      </p:sp>
      <p:pic>
        <p:nvPicPr>
          <p:cNvPr id="15" name="Image 2" descr="icons/chartB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409651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95020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097280" y="427024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were calculated directly from transactional order data to reflect true operational performance rather than estimates.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5120640"/>
            <a:ext cx="457200" cy="457200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19" name="Image 3" descr="icons/arrow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523951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509320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097280" y="541324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highlight where delivery reliability, inventory planning, and shipping-mode mix can be improved to protect margin and customer satisfaction.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909560" y="1691640"/>
            <a:ext cx="3794760" cy="4343400"/>
          </a:xfrm>
          <a:prstGeom prst="roundRect">
            <a:avLst>
              <a:gd name="adj" fmla="val 1928"/>
            </a:avLst>
          </a:prstGeom>
          <a:solidFill>
            <a:srgbClr val="EAF2FA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183880" y="1874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183880" y="2377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818388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Lines Analyzed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183880" y="3218688"/>
            <a:ext cx="3246120" cy="0"/>
          </a:xfrm>
          <a:prstGeom prst="line">
            <a:avLst/>
          </a:prstGeom>
          <a:noFill/>
          <a:ln w="12700">
            <a:solidFill>
              <a:srgbClr val="DDE6E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18388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818388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8183880" y="4178808"/>
            <a:ext cx="3246120" cy="0"/>
          </a:xfrm>
          <a:prstGeom prst="line">
            <a:avLst/>
          </a:prstGeom>
          <a:noFill/>
          <a:ln w="12700">
            <a:solidFill>
              <a:srgbClr val="DDE6E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183880" y="4297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818388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Regions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8183880" y="5138928"/>
            <a:ext cx="3246120" cy="0"/>
          </a:xfrm>
          <a:prstGeom prst="line">
            <a:avLst/>
          </a:prstGeom>
          <a:noFill/>
          <a:ln w="12700">
            <a:solidFill>
              <a:srgbClr val="DDE6E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183880" y="5257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4" name="Text 28"/>
          <p:cNvSpPr/>
          <p:nvPr/>
        </p:nvSpPr>
        <p:spPr>
          <a:xfrm>
            <a:off x="8183880" y="5760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Overview — Sales &amp; Profitability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order volume and financial performance metrics.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EAF2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65376"/>
            <a:ext cx="530352" cy="530352"/>
          </a:xfrm>
          <a:prstGeom prst="ellipse">
            <a:avLst/>
          </a:prstGeom>
          <a:solidFill>
            <a:srgbClr val="0B3D66"/>
          </a:solidFill>
          <a:ln/>
        </p:spPr>
      </p:sp>
      <p:pic>
        <p:nvPicPr>
          <p:cNvPr id="8" name="Image 0" descr="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8424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719072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703320" y="171907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72200" y="1719072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order lines processed across all warehouses, reflecting overall order volume for the period.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761488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980944"/>
            <a:ext cx="530352" cy="530352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14" name="Image 1" descr="icons/doll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9981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28346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$193.99M</a:t>
            </a:r>
            <a:endParaRPr lang="en-US" sz="2500" dirty="0"/>
          </a:p>
        </p:txBody>
      </p:sp>
      <p:sp>
        <p:nvSpPr>
          <p:cNvPr id="16" name="Text 12"/>
          <p:cNvSpPr/>
          <p:nvPr/>
        </p:nvSpPr>
        <p:spPr>
          <a:xfrm>
            <a:off x="370332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172200" y="28346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value generated from all orders, calculated as order quantity multiplied by unit price.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877056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EAF2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8368" y="4096512"/>
            <a:ext cx="530352" cy="530352"/>
          </a:xfrm>
          <a:prstGeom prst="ellipse">
            <a:avLst/>
          </a:prstGeom>
          <a:solidFill>
            <a:srgbClr val="0B3D66"/>
          </a:solidFill>
          <a:ln/>
        </p:spPr>
      </p:sp>
      <p:pic>
        <p:nvPicPr>
          <p:cNvPr id="20" name="Image 2" descr="icons/arrow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15384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95020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$68.54M</a:t>
            </a:r>
            <a:endParaRPr lang="en-US" sz="2500" dirty="0"/>
          </a:p>
        </p:txBody>
      </p:sp>
      <p:sp>
        <p:nvSpPr>
          <p:cNvPr id="22" name="Text 17"/>
          <p:cNvSpPr/>
          <p:nvPr/>
        </p:nvSpPr>
        <p:spPr>
          <a:xfrm>
            <a:off x="3703320" y="39502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72200" y="3950208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remaining after cost of goods sold and shipping costs — a 35.3% margin on total revenue.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4992624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8368" y="5212080"/>
            <a:ext cx="530352" cy="530352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26" name="Image 3" descr="icons/checkCir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3095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17320" y="5065776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66.0%</a:t>
            </a:r>
            <a:endParaRPr lang="en-US" sz="2500" dirty="0"/>
          </a:p>
        </p:txBody>
      </p:sp>
      <p:sp>
        <p:nvSpPr>
          <p:cNvPr id="28" name="Text 22"/>
          <p:cNvSpPr/>
          <p:nvPr/>
        </p:nvSpPr>
        <p:spPr>
          <a:xfrm>
            <a:off x="3703320" y="506577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172200" y="5065776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orders delivered on or before the promised delivery date — a core measure of delivery reliability.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6692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Overview — Delivery &amp; Fulfillment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tracking delivery speed, reliability, and planning accuracy.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EAF2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65376"/>
            <a:ext cx="530352" cy="530352"/>
          </a:xfrm>
          <a:prstGeom prst="ellipse">
            <a:avLst/>
          </a:prstGeom>
          <a:solidFill>
            <a:srgbClr val="0B3D66"/>
          </a:solidFill>
          <a:ln/>
        </p:spPr>
      </p:sp>
      <p:pic>
        <p:nvPicPr>
          <p:cNvPr id="8" name="Image 0" descr="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8424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719072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1.46 days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703320" y="171907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Delay Days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72200" y="1719072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number of days orders are delivered late beyond the promised delivery date, across all shipments.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761488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980944"/>
            <a:ext cx="530352" cy="530352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14" name="Image 1" descr="icons/boxe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9981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28346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3.1%</a:t>
            </a:r>
            <a:endParaRPr lang="en-US" sz="2500" dirty="0"/>
          </a:p>
        </p:txBody>
      </p:sp>
      <p:sp>
        <p:nvSpPr>
          <p:cNvPr id="16" name="Text 12"/>
          <p:cNvSpPr/>
          <p:nvPr/>
        </p:nvSpPr>
        <p:spPr>
          <a:xfrm>
            <a:off x="370332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Backorder Rate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172200" y="28346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ordered units that could not be shipped immediately, indicating gaps in stock availability.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877056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EAF2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8368" y="4096512"/>
            <a:ext cx="530352" cy="530352"/>
          </a:xfrm>
          <a:prstGeom prst="ellipse">
            <a:avLst/>
          </a:prstGeom>
          <a:solidFill>
            <a:srgbClr val="0B3D66"/>
          </a:solidFill>
          <a:ln/>
        </p:spPr>
      </p:sp>
      <p:pic>
        <p:nvPicPr>
          <p:cNvPr id="20" name="Image 2" descr="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15384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95020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96.9%</a:t>
            </a:r>
            <a:endParaRPr lang="en-US" sz="2500" dirty="0"/>
          </a:p>
        </p:txBody>
      </p:sp>
      <p:sp>
        <p:nvSpPr>
          <p:cNvPr id="22" name="Text 17"/>
          <p:cNvSpPr/>
          <p:nvPr/>
        </p:nvSpPr>
        <p:spPr>
          <a:xfrm>
            <a:off x="3703320" y="39502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72200" y="3950208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closely shipped quantities matched ordered quantities — a proxy for demand planning reliability.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4992624"/>
            <a:ext cx="1124712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8368" y="5212080"/>
            <a:ext cx="530352" cy="530352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26" name="Image 3" descr="icons/tru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3095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17320" y="5065776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4.93 days</a:t>
            </a:r>
            <a:endParaRPr lang="en-US" sz="2500" dirty="0"/>
          </a:p>
        </p:txBody>
      </p:sp>
      <p:sp>
        <p:nvSpPr>
          <p:cNvPr id="28" name="Text 22"/>
          <p:cNvSpPr/>
          <p:nvPr/>
        </p:nvSpPr>
        <p:spPr>
          <a:xfrm>
            <a:off x="3703320" y="506577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Lead Time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172200" y="5065776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between order placement and the order leaving the warehouse (order processing time).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by Ship Mode &amp; Top Categories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order volume splits by shipping mode and which categories drive revenue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5440680" cy="493776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blurRad="88900" dist="25400" dir="5400000" algn="bl" rotWithShape="0">
              <a:srgbClr val="1B3A5C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7099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Ship Mode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168883316"/>
              </p:ext>
            </p:extLst>
          </p:nvPr>
        </p:nvGraphicFramePr>
        <p:xfrm>
          <a:off x="960120" y="2029968"/>
          <a:ext cx="44348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4636008"/>
            <a:ext cx="4983480" cy="18288"/>
          </a:xfrm>
          <a:prstGeom prst="rect">
            <a:avLst/>
          </a:prstGeom>
          <a:solidFill>
            <a:srgbClr val="E3EAF1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745736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leads with 4,643 orders (38.7%), the dominant mode.</a:t>
            </a:r>
            <a:endParaRPr lang="en-US" sz="108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follows at 30.0%, used for faster, time-sensitive shipments.</a:t>
            </a:r>
            <a:endParaRPr lang="en-US" sz="108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and Same-day together carry under 15% of orders, signalling room to rebalance cost vs. speed.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17920" y="1572768"/>
            <a:ext cx="5440680" cy="493776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blurRad="88900" dist="25400" dir="5400000" algn="bl" rotWithShape="0">
              <a:srgbClr val="1B3A5C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17099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 by Revenue</a:t>
            </a:r>
            <a:endParaRPr lang="en-US" sz="1350" dirty="0"/>
          </a:p>
        </p:txBody>
      </p:sp>
      <p:graphicFrame>
        <p:nvGraphicFramePr>
          <p:cNvPr id="13" name="Chart 1"/>
          <p:cNvGraphicFramePr/>
          <p:nvPr>
            <p:extLst>
              <p:ext uri="{D42A27DB-BD31-4B8C-83A1-F6EECF244321}">
                <p14:modId xmlns:p14="http://schemas.microsoft.com/office/powerpoint/2010/main" val="1794923589"/>
              </p:ext>
            </p:extLst>
          </p:nvPr>
        </p:nvGraphicFramePr>
        <p:xfrm>
          <a:off x="6400800" y="2075688"/>
          <a:ext cx="50749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6446520" y="4636008"/>
            <a:ext cx="4983480" cy="18288"/>
          </a:xfrm>
          <a:prstGeom prst="rect">
            <a:avLst/>
          </a:prstGeom>
          <a:solidFill>
            <a:srgbClr val="E3EAF1"/>
          </a:solidFill>
          <a:ln/>
        </p:spPr>
      </p:sp>
      <p:sp>
        <p:nvSpPr>
          <p:cNvPr id="15" name="Text 11"/>
          <p:cNvSpPr/>
          <p:nvPr/>
        </p:nvSpPr>
        <p:spPr>
          <a:xfrm>
            <a:off x="6446520" y="4745736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generates $152.66M, about 78.7% of total revenue.</a:t>
            </a:r>
            <a:endParaRPr lang="en-US" sz="108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 is a distant second at $26.90M.</a:t>
            </a:r>
            <a:endParaRPr lang="en-US" sz="108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 and Healthcare together contribute under 2.5% of revenue.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6692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Accuracy &amp; Delay Days Trend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closely shipments matched demand, and how delivery delays moved over time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5440680" cy="493776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blurRad="88900" dist="25400" dir="5400000" algn="bl" rotWithShape="0">
              <a:srgbClr val="1B3A5C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7099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% by Month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642717789"/>
              </p:ext>
            </p:extLst>
          </p:nvPr>
        </p:nvGraphicFramePr>
        <p:xfrm>
          <a:off x="640080" y="2075688"/>
          <a:ext cx="50749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4636008"/>
            <a:ext cx="4983480" cy="18288"/>
          </a:xfrm>
          <a:prstGeom prst="rect">
            <a:avLst/>
          </a:prstGeom>
          <a:solidFill>
            <a:srgbClr val="E3EAF1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745736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stays high, ranging from 96.1% to 97.6%.</a:t>
            </a:r>
            <a:endParaRPr lang="en-US" sz="108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alignment was in Feb; weakest in Apr, still above 96%.</a:t>
            </a:r>
            <a:endParaRPr lang="en-US" sz="108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strong accuracy suggests demand planning is not the main driver of delivery issues.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17920" y="1572768"/>
            <a:ext cx="5440680" cy="493776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blurRad="88900" dist="25400" dir="5400000" algn="bl" rotWithShape="0">
              <a:srgbClr val="1B3A5C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17099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Days by Month</a:t>
            </a:r>
            <a:endParaRPr lang="en-US" sz="1350" dirty="0"/>
          </a:p>
        </p:txBody>
      </p:sp>
      <p:graphicFrame>
        <p:nvGraphicFramePr>
          <p:cNvPr id="13" name="Chart 1"/>
          <p:cNvGraphicFramePr/>
          <p:nvPr>
            <p:extLst>
              <p:ext uri="{D42A27DB-BD31-4B8C-83A1-F6EECF244321}">
                <p14:modId xmlns:p14="http://schemas.microsoft.com/office/powerpoint/2010/main" val="4111335746"/>
              </p:ext>
            </p:extLst>
          </p:nvPr>
        </p:nvGraphicFramePr>
        <p:xfrm>
          <a:off x="6400800" y="2075688"/>
          <a:ext cx="50749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6446520" y="4636008"/>
            <a:ext cx="4983480" cy="18288"/>
          </a:xfrm>
          <a:prstGeom prst="rect">
            <a:avLst/>
          </a:prstGeom>
          <a:solidFill>
            <a:srgbClr val="E3EAF1"/>
          </a:solidFill>
          <a:ln/>
        </p:spPr>
      </p:sp>
      <p:sp>
        <p:nvSpPr>
          <p:cNvPr id="15" name="Text 11"/>
          <p:cNvSpPr/>
          <p:nvPr/>
        </p:nvSpPr>
        <p:spPr>
          <a:xfrm>
            <a:off x="6446520" y="4745736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days hover close to 1.3–1.7 days all year, with Aug the worst month.</a:t>
            </a:r>
            <a:endParaRPr lang="en-US" sz="108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recorded the shortest average delay, but the gap between months is small.</a:t>
            </a:r>
            <a:endParaRPr lang="en-US" sz="108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are steady rather than seasonal, again pointing to a process-level fix.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1127729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FC4001-927D-8752-33D9-43993690C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81" y="713556"/>
            <a:ext cx="11757774" cy="56958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86B788-14D2-7570-3AAD-995740163F63}"/>
              </a:ext>
            </a:extLst>
          </p:cNvPr>
          <p:cNvSpPr txBox="1"/>
          <p:nvPr/>
        </p:nvSpPr>
        <p:spPr>
          <a:xfrm>
            <a:off x="258794" y="138027"/>
            <a:ext cx="10929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EXCEL SUPPLY CHAIN DASHBOARD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218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8829F2-04E9-CA25-027B-F8888341FC44}"/>
              </a:ext>
            </a:extLst>
          </p:cNvPr>
          <p:cNvSpPr txBox="1"/>
          <p:nvPr/>
        </p:nvSpPr>
        <p:spPr>
          <a:xfrm>
            <a:off x="258794" y="138027"/>
            <a:ext cx="10929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TABLEAU SUPPLY CHAIN DASHBOARD</a:t>
            </a:r>
            <a:endParaRPr lang="en-IN" sz="2800" b="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04EA0A-D0B3-820E-F8A4-D4D49A22F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20" y="661247"/>
            <a:ext cx="11878160" cy="599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30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C490CA-B6F0-499B-FD69-F278EA7D6885}"/>
              </a:ext>
            </a:extLst>
          </p:cNvPr>
          <p:cNvSpPr txBox="1"/>
          <p:nvPr/>
        </p:nvSpPr>
        <p:spPr>
          <a:xfrm>
            <a:off x="258794" y="138027"/>
            <a:ext cx="10929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SQL QUERIES SUPPLY CHAIN DASHBOARD</a:t>
            </a:r>
            <a:endParaRPr lang="en-IN" sz="2800" b="1" dirty="0">
              <a:solidFill>
                <a:srgbClr val="00206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876BBB-BC31-5F14-9C4D-FC11E310D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10883"/>
            <a:ext cx="10783018" cy="554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55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7DA9E4-0A23-44C4-7979-CD74C6EFA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5342"/>
            <a:ext cx="9696091" cy="617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95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8391D8-81C6-9CD6-5D82-AEB671FA3987}"/>
              </a:ext>
            </a:extLst>
          </p:cNvPr>
          <p:cNvSpPr txBox="1"/>
          <p:nvPr/>
        </p:nvSpPr>
        <p:spPr>
          <a:xfrm>
            <a:off x="621096" y="138027"/>
            <a:ext cx="10929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POWER BI SUPPLY CHAIN DASHBOARD</a:t>
            </a:r>
            <a:endParaRPr lang="en-IN" sz="2800" b="1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04884D-7558-2281-75A7-A9717752A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72" y="759124"/>
            <a:ext cx="11706045" cy="600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61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E20DA-3D29-E521-7011-44A7C5248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457200"/>
            <a:ext cx="1098232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21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6692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picture, in five simple points.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47120" cy="585216"/>
          </a:xfrm>
          <a:prstGeom prst="roundRect">
            <a:avLst>
              <a:gd name="adj" fmla="val 10938"/>
            </a:avLst>
          </a:prstGeom>
          <a:solidFill>
            <a:srgbClr val="EAF2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709928"/>
            <a:ext cx="457200" cy="457200"/>
          </a:xfrm>
          <a:prstGeom prst="ellipse">
            <a:avLst/>
          </a:prstGeom>
          <a:solidFill>
            <a:srgbClr val="0B3D66"/>
          </a:solidFill>
          <a:ln/>
        </p:spPr>
      </p:sp>
      <p:pic>
        <p:nvPicPr>
          <p:cNvPr id="8" name="Image 0" descr="icon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82880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169164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63440" y="1691640"/>
            <a:ext cx="6858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alone makes up about 79% of revenue — other categories need to grow.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2359152"/>
            <a:ext cx="112471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2423160"/>
            <a:ext cx="457200" cy="457200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13" name="Image 1" descr="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5420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2404872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run late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63440" y="2404872"/>
            <a:ext cx="6858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66% of orders arrive on time, with an average delay of 1.46 days per order.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57200" y="3072384"/>
            <a:ext cx="11247120" cy="585216"/>
          </a:xfrm>
          <a:prstGeom prst="roundRect">
            <a:avLst>
              <a:gd name="adj" fmla="val 10938"/>
            </a:avLst>
          </a:prstGeom>
          <a:solidFill>
            <a:srgbClr val="EAF2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" y="3136392"/>
            <a:ext cx="457200" cy="457200"/>
          </a:xfrm>
          <a:prstGeom prst="ellipse">
            <a:avLst/>
          </a:prstGeom>
          <a:solidFill>
            <a:srgbClr val="0B3D66"/>
          </a:solidFill>
          <a:ln/>
        </p:spPr>
      </p:sp>
      <p:pic>
        <p:nvPicPr>
          <p:cNvPr id="18" name="Image 2" descr="icons/box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25526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98448" y="3118104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orders go unfulfilled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663440" y="3118104"/>
            <a:ext cx="6858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of ordered units are backordered — stock levels need tightening.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7200" y="3785616"/>
            <a:ext cx="112471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1792" y="3849624"/>
            <a:ext cx="457200" cy="457200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23" name="Image 3" descr="icons/br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396849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98448" y="3831336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is solid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663440" y="3831336"/>
            <a:ext cx="6858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 forecast accuracy shows demand planning is not the problem.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57200" y="4498848"/>
            <a:ext cx="11247120" cy="585216"/>
          </a:xfrm>
          <a:prstGeom prst="roundRect">
            <a:avLst>
              <a:gd name="adj" fmla="val 10938"/>
            </a:avLst>
          </a:prstGeom>
          <a:solidFill>
            <a:srgbClr val="EAF2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21792" y="4562856"/>
            <a:ext cx="457200" cy="457200"/>
          </a:xfrm>
          <a:prstGeom prst="ellipse">
            <a:avLst/>
          </a:prstGeom>
          <a:solidFill>
            <a:srgbClr val="0B3D66"/>
          </a:solidFill>
          <a:ln/>
        </p:spPr>
      </p:sp>
      <p:pic>
        <p:nvPicPr>
          <p:cNvPr id="28" name="Image 4" descr="icons/rout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4681728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98448" y="454456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is unbalanced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663440" y="4544568"/>
            <a:ext cx="6858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and Air carry most orders — shifting some to Sea could cut cost.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457200" y="53492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0B3D66"/>
          </a:solidFill>
          <a:ln/>
        </p:spPr>
      </p:sp>
      <p:sp>
        <p:nvSpPr>
          <p:cNvPr id="32" name="Shape 25"/>
          <p:cNvSpPr/>
          <p:nvPr/>
        </p:nvSpPr>
        <p:spPr>
          <a:xfrm>
            <a:off x="658368" y="5513832"/>
            <a:ext cx="548640" cy="548640"/>
          </a:xfrm>
          <a:prstGeom prst="ellipse">
            <a:avLst/>
          </a:prstGeom>
          <a:solidFill>
            <a:srgbClr val="F5821F"/>
          </a:solidFill>
          <a:ln/>
        </p:spPr>
      </p:sp>
      <p:pic>
        <p:nvPicPr>
          <p:cNvPr id="33" name="Image 5" descr="icons/lightbulb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632704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463040" y="53492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planning is strong, but delivery speed and revenue mix are the two things to fix next.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/closing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400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374018" y="3384573"/>
            <a:ext cx="3493276" cy="45719"/>
          </a:xfrm>
          <a:prstGeom prst="rect">
            <a:avLst/>
          </a:prstGeom>
          <a:solidFill>
            <a:srgbClr val="F5821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2635</TotalTime>
  <Words>805</Words>
  <Application>Microsoft Office PowerPoint</Application>
  <PresentationFormat>Widescreen</PresentationFormat>
  <Paragraphs>133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Meghana Kashyap</cp:lastModifiedBy>
  <cp:revision>34</cp:revision>
  <dcterms:created xsi:type="dcterms:W3CDTF">2026-07-14T11:48:52Z</dcterms:created>
  <dcterms:modified xsi:type="dcterms:W3CDTF">2026-07-18T06:06:10Z</dcterms:modified>
</cp:coreProperties>
</file>